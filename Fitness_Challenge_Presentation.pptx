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626" autoAdjust="0"/>
  </p:normalViewPr>
  <p:slideViewPr>
    <p:cSldViewPr snapToGrid="0" snapToObjects="1">
      <p:cViewPr varScale="1">
        <p:scale>
          <a:sx n="81" d="100"/>
          <a:sy n="81" d="100"/>
        </p:scale>
        <p:origin x="6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9208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B981"/>
                </a:solidFill>
                <a:latin typeface="Segoe UI"/>
              </a:rPr>
              <a:t>FULL-STACK ENGINEERING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 dirty="0">
                <a:solidFill>
                  <a:srgbClr val="FFFFFF"/>
                </a:solidFill>
                <a:latin typeface="Segoe UI"/>
              </a:rPr>
              <a:t>Fitness Challenge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241280" cy="6339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94A3B8"/>
                </a:solidFill>
                <a:latin typeface="Segoe UI"/>
              </a:rPr>
              <a:t>Gamifying physical activity — six sports </a:t>
            </a:r>
            <a:r>
              <a:rPr lang="en-IN" sz="1800" b="0" i="0" dirty="0">
                <a:solidFill>
                  <a:srgbClr val="94A3B8"/>
                </a:solidFill>
                <a:latin typeface="Segoe UI"/>
              </a:rPr>
              <a:t>normalised </a:t>
            </a:r>
            <a:r>
              <a:rPr sz="1800" b="0" i="0" dirty="0">
                <a:solidFill>
                  <a:srgbClr val="94A3B8"/>
                </a:solidFill>
                <a:latin typeface="Segoe UI"/>
              </a:rPr>
              <a:t>into a single, fair points system with a global leaderboard and personal dashboards.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97680"/>
            <a:ext cx="2884932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70832"/>
            <a:ext cx="28849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Segoe UI"/>
              </a:rPr>
              <a:t>Java 17 · Spring Boot 3.3</a:t>
            </a:r>
          </a:p>
        </p:txBody>
      </p:sp>
      <p:sp>
        <p:nvSpPr>
          <p:cNvPr id="9" name="Rectangle 8"/>
          <p:cNvSpPr/>
          <p:nvPr/>
        </p:nvSpPr>
        <p:spPr>
          <a:xfrm>
            <a:off x="3890772" y="4297680"/>
            <a:ext cx="1307592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90772" y="4370832"/>
            <a:ext cx="1307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Segoe UI"/>
              </a:rPr>
              <a:t>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1244" y="4297680"/>
            <a:ext cx="1833372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81244" y="4370832"/>
            <a:ext cx="183337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Segoe UI"/>
              </a:rPr>
              <a:t>React 18 · Vite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97496" y="4297680"/>
            <a:ext cx="2884932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97496" y="4370832"/>
            <a:ext cx="288493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Segoe UI"/>
              </a:rPr>
              <a:t>TanStack Query · Recharts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8076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>
                <a:solidFill>
                  <a:srgbClr val="94A3B8"/>
                </a:solidFill>
                <a:latin typeface="Segoe UI"/>
              </a:rPr>
              <a:t>Presented by: </a:t>
            </a:r>
            <a:r>
              <a:rPr lang="en-IN" sz="1200" dirty="0" err="1">
                <a:solidFill>
                  <a:srgbClr val="94A3B8"/>
                </a:solidFill>
                <a:latin typeface="Segoe UI"/>
              </a:rPr>
              <a:t>Nikithesh</a:t>
            </a:r>
            <a:r>
              <a:rPr lang="en-IN" sz="1200" dirty="0">
                <a:solidFill>
                  <a:srgbClr val="94A3B8"/>
                </a:solidFill>
                <a:latin typeface="Segoe UI"/>
              </a:rPr>
              <a:t> HR</a:t>
            </a:r>
            <a:r>
              <a:rPr sz="1200" b="0" i="0" dirty="0">
                <a:solidFill>
                  <a:srgbClr val="94A3B8"/>
                </a:solidFill>
                <a:latin typeface="Segoe UI"/>
              </a:rPr>
              <a:t>   |      Design Doc: DESIGN.md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"/>
              </a:rPr>
              <a:t>What I'll walk you 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8686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819656"/>
            <a:ext cx="5029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1  The Problem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Objective &amp; core requirements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819656"/>
            <a:ext cx="5029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2  Architecture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Three-tier system &amp; data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4320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743200"/>
            <a:ext cx="73152" cy="8686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2871216"/>
            <a:ext cx="5029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3  Data Model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Schema, keys, duplicate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74320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74320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2871216"/>
            <a:ext cx="5029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4  APIs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Endpoints, validation, error handling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9476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73152" cy="8686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3922776"/>
            <a:ext cx="5029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5  Scoring Engine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Normalisation &amp; flooring 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9476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379476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0528" y="3922776"/>
            <a:ext cx="5029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6  Frontend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Leaderboard &amp; dashboard visualisations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84632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846320"/>
            <a:ext cx="73152" cy="8686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4974336"/>
            <a:ext cx="5029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7  Edge Cases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Trade-offs &amp; scenarios handled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846320"/>
            <a:ext cx="5394960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484632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10528" y="4974336"/>
            <a:ext cx="50292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8  Quality &amp; Next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Testing + production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"/>
              </a:rPr>
              <a:t>Objective &amp; what success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475569"/>
                </a:solidFill>
                <a:latin typeface="Segoe UI"/>
              </a:rPr>
              <a:t>Build a full-stack application that gamifies physical activity and fosters friendly competition — tracking diverse sports and normalising their unique metrics into one unified scoring system so users compete fairly on a single global leaderboard.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3611880" cy="21945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73152" cy="2194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871216"/>
            <a:ext cx="324612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The Challenge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Running, cycling, swimming, gym, walking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and steps all measure effort differently.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How do you compare a 5 km run to 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45-minute swim fairly?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19" y="2743200"/>
            <a:ext cx="3611880" cy="21945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19" y="2743200"/>
            <a:ext cx="73152" cy="2194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7" y="2871216"/>
            <a:ext cx="324612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The Answer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Normalise every activity into a single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'Points' currency using fixed conversion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rates + deterministic flooring rules —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one number, one leaderboard.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8" y="2743200"/>
            <a:ext cx="3611880" cy="21945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58" y="2743200"/>
            <a:ext cx="73152" cy="2194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6" y="2871216"/>
            <a:ext cx="324612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The Deliverables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1. Source code (Git repo)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2. Design document (DESIGN.md)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3. Working full-stack app: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>
                <a:solidFill>
                  <a:srgbClr val="475569"/>
                </a:solidFill>
                <a:latin typeface="Segoe UI"/>
              </a:rPr>
              <a:t>   APIs + responsive web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"/>
              </a:rPr>
              <a:t>Every core requirement — and how I met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45920"/>
          <a:ext cx="1088136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Requirement (from spec)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How it's implemented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User Registration API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POST /v1/users/register — returns UUID; blocks duplicate first+last name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Data Ingestion API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POST /v1/activities — sport-specific metrics, 400 on schema/metric mismatch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Scoring &amp; Normalisation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ScoringEngine: fixed rates + floor for distance, duration, 100-step blocks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Global Leaderboard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Paginated ranking by total points; all users shown (LEFT JOIN)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Personal Dashboard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Sport breakdown (pie), volume over time (line), activity history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Design Document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DESIGN.md covering all six required sections (a–f)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Idempotency (beyond spec)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Bonus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Idempotency-Key header prevents double-award on retry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"/>
              </a:rPr>
              <a:t>Choices &amp; the reasoning behind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257800" cy="21031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2103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819656"/>
            <a:ext cx="4892040" cy="10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Backend — Java 17 + Spring Boot 3.3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Mature ecosystem: validation, JPA, </a:t>
            </a:r>
            <a:r>
              <a:rPr lang="en-IN" sz="1400" dirty="0"/>
              <a:t>Dependency Injection   </a:t>
            </a:r>
            <a:r>
              <a:rPr sz="1250" dirty="0">
                <a:solidFill>
                  <a:srgbClr val="475569"/>
                </a:solidFill>
                <a:latin typeface="Segoe UI"/>
              </a:rPr>
              <a:t>Reduces boilerplate for a CRUD-heavy domain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Strong typing catches metric/sport errors early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257800" cy="21031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73152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819656"/>
            <a:ext cx="489204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Database — PostgreSQL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Relational integrity for users ↔ activities (FK cascade)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JSONB column for open-ended '</a:t>
            </a:r>
            <a:r>
              <a:rPr sz="1250" dirty="0" err="1">
                <a:solidFill>
                  <a:srgbClr val="475569"/>
                </a:solidFill>
                <a:latin typeface="Segoe UI"/>
              </a:rPr>
              <a:t>extraFields</a:t>
            </a:r>
            <a:r>
              <a:rPr sz="1250" dirty="0">
                <a:solidFill>
                  <a:srgbClr val="475569"/>
                </a:solidFill>
                <a:latin typeface="Segoe UI"/>
              </a:rPr>
              <a:t>' metadata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Aggregation queries power the leaderboard directly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77639"/>
            <a:ext cx="5257800" cy="21031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977639"/>
            <a:ext cx="73152" cy="2103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4105655"/>
            <a:ext cx="489204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Frontend — React 18 + Vite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Component model fits pages/tables/charts cleanly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 err="1">
                <a:solidFill>
                  <a:srgbClr val="475569"/>
                </a:solidFill>
                <a:latin typeface="Segoe UI"/>
              </a:rPr>
              <a:t>TanStack</a:t>
            </a:r>
            <a:r>
              <a:rPr sz="1250" dirty="0">
                <a:solidFill>
                  <a:srgbClr val="475569"/>
                </a:solidFill>
                <a:latin typeface="Segoe UI"/>
              </a:rPr>
              <a:t> Query for server-state caching &amp; </a:t>
            </a:r>
            <a:r>
              <a:rPr sz="1250" dirty="0" err="1">
                <a:solidFill>
                  <a:srgbClr val="475569"/>
                </a:solidFill>
                <a:latin typeface="Segoe UI"/>
              </a:rPr>
              <a:t>refetch</a:t>
            </a:r>
            <a:endParaRPr sz="1250" dirty="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Recharts for pie/line charts, Tailwind for styling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977639"/>
            <a:ext cx="5257800" cy="21031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977639"/>
            <a:ext cx="73152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4105655"/>
            <a:ext cx="489204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Cross-cutting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Jakarta Validation for declarative request checks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Spring Data JPA repositories + custom JPQL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Global exception handler → consistent error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"/>
              </a:rPr>
              <a:t>Classic three-tier, deliberately kept simple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42900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47088"/>
            <a:ext cx="3063240" cy="3346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</a:rPr>
              <a:t>Browser  ·  React SPA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CBD5E1"/>
                </a:solidFill>
                <a:latin typeface="Segoe UI"/>
              </a:rPr>
              <a:t>Port 3000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Segoe UI"/>
              </a:rPr>
              <a:t>Pages: Home · Register ·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Segoe UI"/>
              </a:rPr>
              <a:t>Leaderboard · Dashboard ·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Segoe UI"/>
              </a:rPr>
              <a:t>Log Activity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endParaRPr sz="1100">
              <a:solidFill>
                <a:srgbClr val="E2E8F0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Segoe UI"/>
              </a:rPr>
              <a:t>React Router (routing)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Segoe UI"/>
              </a:rPr>
              <a:t>TanStack Query (cache)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Segoe UI"/>
              </a:rPr>
              <a:t>Recharts · Tailwind · Vite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429000" cy="3566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847088"/>
            <a:ext cx="3063240" cy="3346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</a:rPr>
              <a:t>Spring Boot API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CBD5E1"/>
                </a:solidFill>
                <a:latin typeface="Segoe UI"/>
              </a:rPr>
              <a:t>Port 8080 / api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Segoe UI"/>
              </a:rPr>
              <a:t>REST Layer (thin controllers)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Segoe UI"/>
              </a:rPr>
              <a:t>  /v1/users · /v1/activities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Segoe UI"/>
              </a:rPr>
              <a:t>  /v1/leaderboard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endParaRPr sz="1100">
              <a:solidFill>
                <a:srgbClr val="E2E8F0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Segoe UI"/>
              </a:rPr>
              <a:t>Service Layer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Segoe UI"/>
              </a:rPr>
              <a:t>  Scoring · Dashboard · etc.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Segoe UI"/>
              </a:rPr>
              <a:t>Data Layer (Spring Data JPA)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>
                <a:solidFill>
                  <a:srgbClr val="E2E8F0"/>
                </a:solidFill>
                <a:latin typeface="Segoe UI"/>
              </a:rPr>
              <a:t>Jakarta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737360"/>
            <a:ext cx="3383280" cy="3566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847088"/>
            <a:ext cx="3017520" cy="1885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Segoe UI"/>
              </a:rPr>
              <a:t>PostgreSQL</a:t>
            </a:r>
          </a:p>
          <a:p>
            <a:pPr>
              <a:spcAft>
                <a:spcPts val="600"/>
              </a:spcAft>
            </a:pPr>
            <a:r>
              <a:rPr sz="1050" dirty="0">
                <a:solidFill>
                  <a:srgbClr val="CBD5E1"/>
                </a:solidFill>
                <a:latin typeface="Segoe UI"/>
              </a:rPr>
              <a:t>Port 5432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Segoe UI"/>
              </a:rPr>
              <a:t>Database: </a:t>
            </a:r>
            <a:r>
              <a:rPr sz="1100" dirty="0" err="1">
                <a:solidFill>
                  <a:srgbClr val="E2E8F0"/>
                </a:solidFill>
                <a:latin typeface="Segoe UI"/>
              </a:rPr>
              <a:t>fitness_challenge</a:t>
            </a:r>
            <a:endParaRPr sz="1100" dirty="0">
              <a:solidFill>
                <a:srgbClr val="E2E8F0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endParaRPr sz="1100" dirty="0">
              <a:solidFill>
                <a:srgbClr val="E2E8F0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Segoe UI"/>
              </a:rPr>
              <a:t>users (UUID PK)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Segoe UI"/>
              </a:rPr>
              <a:t>activities (UUID PK,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Segoe UI"/>
              </a:rPr>
              <a:t>  </a:t>
            </a:r>
            <a:r>
              <a:rPr sz="1100" dirty="0" err="1">
                <a:solidFill>
                  <a:srgbClr val="E2E8F0"/>
                </a:solidFill>
                <a:latin typeface="Segoe UI"/>
              </a:rPr>
              <a:t>user_id</a:t>
            </a:r>
            <a:r>
              <a:rPr sz="1100" dirty="0">
                <a:solidFill>
                  <a:srgbClr val="E2E8F0"/>
                </a:solidFill>
                <a:latin typeface="Segoe UI"/>
              </a:rPr>
              <a:t> FK, JSONB,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100" dirty="0">
                <a:solidFill>
                  <a:srgbClr val="E2E8F0"/>
                </a:solidFill>
                <a:latin typeface="Segoe UI"/>
              </a:rPr>
              <a:t>  </a:t>
            </a:r>
            <a:r>
              <a:rPr sz="1100" dirty="0" err="1">
                <a:solidFill>
                  <a:srgbClr val="E2E8F0"/>
                </a:solidFill>
                <a:latin typeface="Segoe UI"/>
              </a:rPr>
              <a:t>idempotency_key</a:t>
            </a:r>
            <a:r>
              <a:rPr sz="1100" dirty="0">
                <a:solidFill>
                  <a:srgbClr val="E2E8F0"/>
                </a:solidFill>
                <a:latin typeface="Segoe UI"/>
              </a:rPr>
              <a:t> UNIQUE)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endParaRPr sz="1100" dirty="0">
              <a:solidFill>
                <a:srgbClr val="E2E8F0"/>
              </a:solidFill>
              <a:latin typeface="Segoe UI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4114800" y="3246120"/>
            <a:ext cx="292608" cy="4572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7863840" y="3246120"/>
            <a:ext cx="292608" cy="4572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475569"/>
                </a:solidFill>
                <a:latin typeface="Segoe UI"/>
              </a:rPr>
              <a:t>Assumption-driven: tens–hundreds of concurrent users, low write volume, single organisation. This justifies no message queues, no microservices, no caching tier — avoiding premature complexity while leaving room to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"/>
              </a:rPr>
              <a:t>Request lifecycle — activity ingestion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737360" cy="6035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737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 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691640"/>
            <a:ext cx="8961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</a:rPr>
              <a:t>LogActivityForm sends POST /v1/activities with JSON body + optional Idempotency-Key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41448"/>
            <a:ext cx="1737360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41448"/>
            <a:ext cx="1737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2 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441448"/>
            <a:ext cx="8961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</a:rPr>
              <a:t>Thin layer runs @Valid + @ValidSport + @SportMetricConsistency; rejects bad input with 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91256"/>
            <a:ext cx="1737360" cy="6035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191256"/>
            <a:ext cx="1737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3 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191256"/>
            <a:ext cx="8961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</a:rPr>
              <a:t>Checks idempotency key; verifies user exists; delegates to ScoringEngine for 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41064"/>
            <a:ext cx="1737360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941064"/>
            <a:ext cx="1737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4 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941064"/>
            <a:ext cx="8961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</a:rPr>
              <a:t>Applies rate × metric, floors to integer — deterministic, no floating-point drift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690872"/>
            <a:ext cx="1737360" cy="6035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690872"/>
            <a:ext cx="1737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5  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690872"/>
            <a:ext cx="8961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</a:rPr>
              <a:t>Persists activity (points stored, not recomputed) via Spring Data JPA / Hibernate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440680"/>
            <a:ext cx="1737360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1737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6 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440680"/>
            <a:ext cx="8961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</a:rPr>
              <a:t>201 Created with full activity + pointsAwarded; frontend invalidates cached queries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"/>
              </a:rPr>
              <a:t>Two tables — leaderboard is derived, not stored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F46E5"/>
                </a:solidFill>
                <a:latin typeface="Segoe UI"/>
              </a:rPr>
              <a:t>users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965960"/>
          <a:ext cx="52120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Column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Key / Constraint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UUID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PK, gen_random_uuid()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first_name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VARCHAR(100)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NOT NULL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last_name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VARCHAR(100)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NOT NULL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email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VARCHAR(255)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NOT NULL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created_at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TIMESTAMP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default now()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16002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B981"/>
                </a:solidFill>
                <a:latin typeface="Segoe UI"/>
              </a:rPr>
              <a:t>activities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1965960"/>
          <a:ext cx="5212080" cy="2953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Column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Key / Constraint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UUID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PK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user_id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UUID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FK → users, ON DELETE CASCADE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sport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VARCHAR(50)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CHECK in enum set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distance_km / duration_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NUMERIC / INT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one metric per sport, nullable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points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INTEGER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NOT NULL, &gt;= 0 (stored)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extra_fields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JSONB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open metadata, default '{}'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idempotency_key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UUID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Segoe UI"/>
                        </a:rPr>
                        <a:t>UNIQUE, nullable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2578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Duplicate user detection — defence in depth: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475569"/>
                </a:solidFill>
                <a:latin typeface="Segoe UI"/>
              </a:rPr>
              <a:t>1)  Service layer checks findByFirstNameIgnoreCaseAndLastNameIgnoreCase() → 409 before any write.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</a:rPr>
              <a:t>2)  Database UNIQUE INDEX on lower(first_name), lower(last_name)  → final safety net for race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API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"/>
              </a:rPr>
              <a:t>RESTful, versioned, consistent error envelope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342863"/>
              </p:ext>
            </p:extLst>
          </p:nvPr>
        </p:nvGraphicFramePr>
        <p:xfrm>
          <a:off x="640080" y="1645920"/>
          <a:ext cx="69494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Method &amp; Route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Key responses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POST /v1/users/register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Register user, return UUID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201 · 400 · 409 duplicate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POST /v1/activities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Ingest activity, award points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201 · 400 mismatch · 404 user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GET /v1/leaderboard?page=&amp;size=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Paginated global ranking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200 (Page envelope)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GET /v1/users/{id}/dashboard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Aggregated personal stats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E293B"/>
                          </a:solidFill>
                          <a:latin typeface="Segoe UI"/>
                        </a:rPr>
                        <a:t>200 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GET /v1/users/search?q=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Type-ahead user search (max 10)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200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DELETE /v1/users/{id}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Delete user + cascade activities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204 · 404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DELETE /v1/activities/{id}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Delete single activity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E293B"/>
                          </a:solidFill>
                          <a:latin typeface="Segoe UI"/>
                        </a:rPr>
                        <a:t>204 · 404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1645920"/>
            <a:ext cx="3703320" cy="3429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645920"/>
            <a:ext cx="73152" cy="3429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9288" y="1773936"/>
            <a:ext cx="3337560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Consistent error envelope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Every failure returns the same shape: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endParaRPr sz="115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{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  timestamp, status,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  error, message,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  errors: [ {field, message} ]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}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endParaRPr sz="115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GlobalExceptionHandler (@RestControllerAdvice)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maps all exceptions → this JSON.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Frontend reads errors[] to show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field-level messages.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SCORING &amp; NORMALISATION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"/>
              </a:rPr>
              <a:t>The heart of the assignment — fair, deterministic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45920"/>
          <a:ext cx="667512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Sport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Rate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Rule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Running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distance (km)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100 / km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floor(km × rate)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Walking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distance (km)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50 / km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floor(km × rate)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Cycling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distance (km)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25 / km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floor(km × rate)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Swimming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duration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15 / min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floor(sec / 60) × rate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Gym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duration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5 / min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floor(sec / 60) × rate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Daily Steps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count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1 / 100 steps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floor(steps / 100)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43800" y="1645920"/>
            <a:ext cx="3977639" cy="3063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43800" y="1645920"/>
            <a:ext cx="73152" cy="3063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44968" y="1773936"/>
            <a:ext cx="3611879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Flooring — worked examples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475569"/>
                </a:solidFill>
                <a:latin typeface="Segoe UI"/>
              </a:rPr>
              <a:t>1.55 km walk → floor(77.5) = 77 pts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endParaRPr sz="120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475569"/>
                </a:solidFill>
                <a:latin typeface="Segoe UI"/>
              </a:rPr>
              <a:t>45 min 50 s swim →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475569"/>
                </a:solidFill>
                <a:latin typeface="Segoe UI"/>
              </a:rPr>
              <a:t>  floor(2750/60)=45 min → 675 pts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endParaRPr sz="120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475569"/>
                </a:solidFill>
                <a:latin typeface="Segoe UI"/>
              </a:rPr>
              <a:t>399 steps → floor(399/100)=3 → 3 pts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endParaRPr sz="120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475569"/>
                </a:solidFill>
                <a:latin typeface="Segoe UI"/>
              </a:rPr>
              <a:t>Points are always integers, stored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>
                <a:solidFill>
                  <a:srgbClr val="475569"/>
                </a:solidFill>
                <a:latin typeface="Segoe UI"/>
              </a:rPr>
              <a:t>at write time — never recomputed.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Why BigDecimal for distance?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75569"/>
                </a:solidFill>
                <a:latin typeface="Segoe UI"/>
              </a:rPr>
              <a:t>Doubles introduce binary rounding errors (0.1 + 0.2 ≠ 0.3). For distance × rate I use BigDecimal so 1.55 × 50 is exactly 77.5 before flooring — no silent off-by-one on point totals.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VALIDATION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"/>
              </a:rPr>
              <a:t>Two-stage — catches bad input before business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257800" cy="3200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73152" cy="3200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865376"/>
            <a:ext cx="4892040" cy="176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Stage 1 — Field level (@Valid)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dirty="0">
                <a:solidFill>
                  <a:srgbClr val="475569"/>
                </a:solidFill>
                <a:latin typeface="Segoe UI"/>
              </a:rPr>
              <a:t>@NotNull </a:t>
            </a:r>
            <a:r>
              <a:rPr sz="1300" dirty="0" err="1">
                <a:solidFill>
                  <a:srgbClr val="475569"/>
                </a:solidFill>
                <a:latin typeface="Segoe UI"/>
              </a:rPr>
              <a:t>userId</a:t>
            </a:r>
            <a:r>
              <a:rPr sz="1300" dirty="0">
                <a:solidFill>
                  <a:srgbClr val="475569"/>
                </a:solidFill>
                <a:latin typeface="Segoe UI"/>
              </a:rPr>
              <a:t>, @NotBlank sport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dirty="0">
                <a:solidFill>
                  <a:srgbClr val="475569"/>
                </a:solidFill>
                <a:latin typeface="Segoe UI"/>
              </a:rPr>
              <a:t>@ValidSport → must be a known </a:t>
            </a:r>
            <a:r>
              <a:rPr sz="1300" dirty="0" err="1">
                <a:solidFill>
                  <a:srgbClr val="475569"/>
                </a:solidFill>
                <a:latin typeface="Segoe UI"/>
              </a:rPr>
              <a:t>enum</a:t>
            </a:r>
            <a:endParaRPr sz="1300" dirty="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dirty="0" err="1">
                <a:solidFill>
                  <a:srgbClr val="475569"/>
                </a:solidFill>
                <a:latin typeface="Segoe UI"/>
              </a:rPr>
              <a:t>distanceKm</a:t>
            </a:r>
            <a:r>
              <a:rPr sz="1300" dirty="0">
                <a:solidFill>
                  <a:srgbClr val="475569"/>
                </a:solidFill>
                <a:latin typeface="Segoe UI"/>
              </a:rPr>
              <a:t> &gt; 0, max </a:t>
            </a:r>
            <a:r>
              <a:rPr lang="en-IN" sz="1300" dirty="0">
                <a:solidFill>
                  <a:srgbClr val="475569"/>
                </a:solidFill>
                <a:latin typeface="Segoe UI"/>
              </a:rPr>
              <a:t>1000km</a:t>
            </a:r>
            <a:r>
              <a:rPr sz="1300" dirty="0">
                <a:solidFill>
                  <a:srgbClr val="475569"/>
                </a:solidFill>
                <a:latin typeface="Segoe UI"/>
              </a:rPr>
              <a:t> decimals</a:t>
            </a:r>
            <a:r>
              <a:rPr lang="en-IN" sz="1300" dirty="0">
                <a:solidFill>
                  <a:srgbClr val="475569"/>
                </a:solidFill>
                <a:latin typeface="Segoe UI"/>
              </a:rPr>
              <a:t> 3</a:t>
            </a:r>
            <a:endParaRPr sz="1300" dirty="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n-IN" sz="1300" dirty="0">
                <a:solidFill>
                  <a:srgbClr val="475569"/>
                </a:solidFill>
                <a:latin typeface="Segoe UI"/>
              </a:rPr>
              <a:t>D</a:t>
            </a:r>
            <a:r>
              <a:rPr sz="1300" dirty="0" err="1">
                <a:solidFill>
                  <a:srgbClr val="475569"/>
                </a:solidFill>
                <a:latin typeface="Segoe UI"/>
              </a:rPr>
              <a:t>uration</a:t>
            </a:r>
            <a:r>
              <a:rPr lang="en-IN" sz="1300" dirty="0">
                <a:solidFill>
                  <a:srgbClr val="475569"/>
                </a:solidFill>
                <a:latin typeface="Segoe UI"/>
              </a:rPr>
              <a:t> max 24hours</a:t>
            </a:r>
            <a:endParaRPr sz="1300" dirty="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dirty="0" err="1">
                <a:solidFill>
                  <a:srgbClr val="475569"/>
                </a:solidFill>
                <a:latin typeface="Segoe UI"/>
              </a:rPr>
              <a:t>stepCount</a:t>
            </a:r>
            <a:r>
              <a:rPr sz="1300" dirty="0">
                <a:solidFill>
                  <a:srgbClr val="475569"/>
                </a:solidFill>
                <a:latin typeface="Segoe UI"/>
              </a:rPr>
              <a:t> </a:t>
            </a:r>
            <a:r>
              <a:rPr lang="en-IN" sz="1300" dirty="0">
                <a:solidFill>
                  <a:srgbClr val="475569"/>
                </a:solidFill>
                <a:latin typeface="Segoe UI"/>
              </a:rPr>
              <a:t>max 100000</a:t>
            </a:r>
            <a:endParaRPr sz="1300" dirty="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endParaRPr sz="1300" dirty="0">
              <a:solidFill>
                <a:srgbClr val="475569"/>
              </a:solidFill>
              <a:latin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257800" cy="3200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73152" cy="3200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1865376"/>
            <a:ext cx="4892040" cy="271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Stage 2 — Cross-field (@SportMetricConsistency)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dirty="0">
                <a:solidFill>
                  <a:srgbClr val="475569"/>
                </a:solidFill>
                <a:latin typeface="Segoe UI"/>
              </a:rPr>
              <a:t>Class-level validator ensures the RIGHT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dirty="0">
                <a:solidFill>
                  <a:srgbClr val="475569"/>
                </a:solidFill>
                <a:latin typeface="Segoe UI"/>
              </a:rPr>
              <a:t>metric is present for the sport AND no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dirty="0">
                <a:solidFill>
                  <a:srgbClr val="475569"/>
                </a:solidFill>
                <a:latin typeface="Segoe UI"/>
              </a:rPr>
              <a:t>conflicting metrics are supplied: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endParaRPr sz="1300" dirty="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dirty="0">
                <a:solidFill>
                  <a:srgbClr val="475569"/>
                </a:solidFill>
                <a:latin typeface="Segoe UI"/>
              </a:rPr>
              <a:t>RUNNING/WALKING/CYCLING → </a:t>
            </a:r>
            <a:r>
              <a:rPr sz="1300" dirty="0" err="1">
                <a:solidFill>
                  <a:srgbClr val="475569"/>
                </a:solidFill>
                <a:latin typeface="Segoe UI"/>
              </a:rPr>
              <a:t>distanceKm</a:t>
            </a:r>
            <a:r>
              <a:rPr sz="1300" dirty="0">
                <a:solidFill>
                  <a:srgbClr val="475569"/>
                </a:solidFill>
                <a:latin typeface="Segoe UI"/>
              </a:rPr>
              <a:t> only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dirty="0">
                <a:solidFill>
                  <a:srgbClr val="475569"/>
                </a:solidFill>
                <a:latin typeface="Segoe UI"/>
              </a:rPr>
              <a:t>GYM/SWIMMING → duration only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300" dirty="0">
                <a:solidFill>
                  <a:srgbClr val="475569"/>
                </a:solidFill>
                <a:latin typeface="Segoe UI"/>
              </a:rPr>
              <a:t>DAILY_STEPS → </a:t>
            </a:r>
            <a:r>
              <a:rPr sz="1300" dirty="0" err="1">
                <a:solidFill>
                  <a:srgbClr val="475569"/>
                </a:solidFill>
                <a:latin typeface="Segoe UI"/>
              </a:rPr>
              <a:t>stepCount</a:t>
            </a:r>
            <a:r>
              <a:rPr sz="1300" dirty="0">
                <a:solidFill>
                  <a:srgbClr val="475569"/>
                </a:solidFill>
                <a:latin typeface="Segoe UI"/>
              </a:rPr>
              <a:t> only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endParaRPr sz="1300" dirty="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endParaRPr sz="1300" dirty="0">
              <a:solidFill>
                <a:srgbClr val="475569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475569"/>
                </a:solidFill>
                <a:latin typeface="Segoe UI"/>
              </a:rPr>
              <a:t>Directly satisfies the spec's '400 Bad Request for invalid schemas or mismatched sport/metric types' — enforced declaratively, not with scattered if-statements.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"/>
              </a:rPr>
              <a:t>React SPA — four concerns, clean separation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269748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2286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819656"/>
            <a:ext cx="233172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Routing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React Router v6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5 routes → 5 page components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691640"/>
            <a:ext cx="269748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691640"/>
            <a:ext cx="73152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1819656"/>
            <a:ext cx="233172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Server State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TanStack Query v5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caching, refetch, cache invalidation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custom hooks per resource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269748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73152" cy="2286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1819656"/>
            <a:ext cx="233172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API Layer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Thin apiClient.js over Fetch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sets headers, parses errors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throws structured error objects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691640"/>
            <a:ext cx="2697480" cy="2286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06840" y="1691640"/>
            <a:ext cx="73152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08008" y="1819656"/>
            <a:ext cx="233172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Presentation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Pages compose small components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charts receive pre-processed data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no chart fetches data itself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Segoe UI"/>
              </a:rPr>
              <a:t>Visualisations (Recharts)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B981"/>
                </a:solidFill>
                <a:latin typeface="Segoe UI"/>
              </a:rPr>
              <a:t>• Sport Breakdown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754880"/>
            <a:ext cx="795527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Donut PieChart — points per sport, labelled by name +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B981"/>
                </a:solidFill>
                <a:latin typeface="Segoe UI"/>
              </a:rPr>
              <a:t>• Volume Over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212080"/>
            <a:ext cx="7955279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 dirty="0" err="1">
                <a:solidFill>
                  <a:srgbClr val="475569"/>
                </a:solidFill>
                <a:latin typeface="Segoe UI"/>
              </a:rPr>
              <a:t>LineChart</a:t>
            </a:r>
            <a:r>
              <a:rPr sz="1250" b="0" i="0" dirty="0">
                <a:solidFill>
                  <a:srgbClr val="475569"/>
                </a:solidFill>
                <a:latin typeface="Segoe UI"/>
              </a:rPr>
              <a:t> by ISO week; missing weeks filled with zero for a continuous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692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B981"/>
                </a:solidFill>
                <a:latin typeface="Segoe UI"/>
              </a:rPr>
              <a:t>• Activity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778840"/>
            <a:ext cx="7955279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 dirty="0">
                <a:solidFill>
                  <a:srgbClr val="475569"/>
                </a:solidFill>
                <a:latin typeface="Segoe UI"/>
              </a:rPr>
              <a:t>Paginated table (</a:t>
            </a:r>
            <a:r>
              <a:rPr lang="en-IN" sz="1250" b="0" i="0" dirty="0">
                <a:solidFill>
                  <a:srgbClr val="475569"/>
                </a:solidFill>
                <a:latin typeface="Segoe UI"/>
              </a:rPr>
              <a:t>1</a:t>
            </a:r>
            <a:r>
              <a:rPr sz="1250" b="0" i="0" dirty="0">
                <a:solidFill>
                  <a:srgbClr val="475569"/>
                </a:solidFill>
                <a:latin typeface="Segoe UI"/>
              </a:rPr>
              <a:t>0/page) with per-row delete + running total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LEADERBOARD — RANKING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"/>
              </a:rPr>
              <a:t>Correct-by-construction, computed at query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 dirty="0">
                <a:solidFill>
                  <a:srgbClr val="1E293B"/>
                </a:solidFill>
                <a:latin typeface="Segoe UI"/>
              </a:rPr>
              <a:t>LEFT JOIN users ↔ activities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0" i="0" dirty="0">
                <a:solidFill>
                  <a:srgbClr val="475569"/>
                </a:solidFill>
                <a:latin typeface="Segoe UI"/>
              </a:rPr>
              <a:t>Every registered user appears — even with zero activities (ranked at the bottom).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 dirty="0">
                <a:solidFill>
                  <a:srgbClr val="1E293B"/>
                </a:solidFill>
                <a:latin typeface="Segoe UI"/>
              </a:rPr>
              <a:t>COALESCE(SUM(points), 0) DESC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0" i="0" dirty="0">
                <a:solidFill>
                  <a:srgbClr val="475569"/>
                </a:solidFill>
                <a:latin typeface="Segoe UI"/>
              </a:rPr>
              <a:t>Aggregates all points server-side; NULL totals coalesced to 0 for fair ordering.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 dirty="0">
                <a:solidFill>
                  <a:srgbClr val="1E293B"/>
                </a:solidFill>
                <a:latin typeface="Segoe UI"/>
              </a:rPr>
              <a:t>Rank first, then paginate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0" i="0" dirty="0">
                <a:solidFill>
                  <a:srgbClr val="475569"/>
                </a:solidFill>
                <a:latin typeface="Segoe UI"/>
              </a:rPr>
              <a:t>Global ranks are computed across ALL users, then the page is sliced — so rank #11 is correct on page 2, not restarted.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 dirty="0">
                <a:solidFill>
                  <a:srgbClr val="1E293B"/>
                </a:solidFill>
                <a:latin typeface="Segoe UI"/>
              </a:rPr>
              <a:t>No </a:t>
            </a:r>
            <a:r>
              <a:rPr sz="1400" b="1" i="0" dirty="0" err="1">
                <a:solidFill>
                  <a:srgbClr val="1E293B"/>
                </a:solidFill>
                <a:latin typeface="Segoe UI"/>
              </a:rPr>
              <a:t>materialised</a:t>
            </a:r>
            <a:r>
              <a:rPr sz="1400" b="1" i="0" dirty="0">
                <a:solidFill>
                  <a:srgbClr val="1E293B"/>
                </a:solidFill>
                <a:latin typeface="Segoe UI"/>
              </a:rPr>
              <a:t> table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0" i="0" dirty="0">
                <a:solidFill>
                  <a:srgbClr val="475569"/>
                </a:solidFill>
                <a:latin typeface="Segoe UI"/>
              </a:rPr>
              <a:t>Rankings recalculated per request → always up to date. Fine at this scale.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5120640" cy="29260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73152" cy="2926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865376"/>
            <a:ext cx="4754880" cy="1928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Scenario: does it scale?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At tens–hundreds of users: a single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aggregation query is instant.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endParaRPr sz="1250" dirty="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At scale I'd add: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  • Redis cache (30–60 s TTL)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endParaRPr sz="1250" dirty="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Trade-off stated explicitly in DESIGN.md.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GOING BEYOND — IDEMPOTENCY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0F172A"/>
                </a:solidFill>
                <a:latin typeface="Segoe UI"/>
              </a:rPr>
              <a:t>Preventing double-awarded points on retry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475569"/>
                </a:solidFill>
                <a:latin typeface="Segoe UI"/>
              </a:rPr>
              <a:t>Scenario: a user logs a run, the network drops before the response arrives, they hit submit again. Without protection, that's two activities and double points.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2103120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Frontend generates a UUID (crypto.randomUUID) once per submission, sent as Idempotency-Key header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9544"/>
            <a:ext cx="210312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209544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Server — first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20954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No match found → create activity, store the key in the UNIQUE idempotency_key column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04488"/>
            <a:ext cx="2103120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904488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Server — retry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90448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Same key found → return the ORIGINAL response, no insert, no extra points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99432"/>
            <a:ext cx="210312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599432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Key rotation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599432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 dirty="0">
                <a:solidFill>
                  <a:srgbClr val="475569"/>
                </a:solidFill>
                <a:latin typeface="Segoe UI"/>
              </a:rPr>
              <a:t>Frontend rotates the key only after a confirmed success — retries reuse the same key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94376"/>
            <a:ext cx="2103120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294376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Optional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294376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Header absent → normal insert (nullable UNIQUE: many NULLs allowed). Backwards compatible.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TRADE-OFFS &amp;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"/>
              </a:rPr>
              <a:t>Scenarios I deliberately handled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861891"/>
              </p:ext>
            </p:extLst>
          </p:nvPr>
        </p:nvGraphicFramePr>
        <p:xfrm>
          <a:off x="640080" y="1645920"/>
          <a:ext cx="10881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Handling</a:t>
                      </a:r>
                    </a:p>
                  </a:txBody>
                  <a:tcPr marL="73152" marR="54864" marT="27432" marB="27432" anchor="ctr"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Concurrent duplicate registration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App check + DB unique index — second insert fails cleanly as 409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Retry / double-submit activity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E293B"/>
                          </a:solidFill>
                          <a:latin typeface="Segoe UI"/>
                        </a:rPr>
                        <a:t>Idempotency key returns original response, no double points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E293B"/>
                          </a:solidFill>
                          <a:latin typeface="Segoe UI"/>
                        </a:rPr>
                        <a:t>0.001 km run </a:t>
                      </a:r>
                      <a:r>
                        <a:rPr lang="en-IN" sz="1200" b="0" dirty="0">
                          <a:solidFill>
                            <a:srgbClr val="1E293B"/>
                          </a:solidFill>
                          <a:latin typeface="Segoe UI"/>
                        </a:rPr>
                        <a:t>/ 59 s gym 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  <a:latin typeface="Segoe UI"/>
                        </a:rPr>
                        <a:t>/ 99 steps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E293B"/>
                          </a:solidFill>
                          <a:latin typeface="Segoe UI"/>
                        </a:rPr>
                        <a:t>Floors to 0 points — valid, no error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Negative distance / seconds ≥ 60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Rejected by @DecimalMin / @Max validation → 400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Wrong metric for sport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@SportMetricConsistency → 400 with field message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User with no activities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Still shown on leaderboard via LEFT JOIN + COALESCE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Delete user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E293B"/>
                          </a:solidFill>
                          <a:latin typeface="Segoe UI"/>
                        </a:rPr>
                        <a:t>Cascades to activities via ON DELETE CASCADE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Segoe UI"/>
                        </a:rPr>
                        <a:t>Floating-point score drift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E293B"/>
                          </a:solidFill>
                          <a:latin typeface="Segoe UI"/>
                        </a:rPr>
                        <a:t>BigDecimal</a:t>
                      </a:r>
                      <a:r>
                        <a:rPr sz="1200" b="0" dirty="0">
                          <a:solidFill>
                            <a:srgbClr val="1E293B"/>
                          </a:solidFill>
                          <a:latin typeface="Segoe UI"/>
                        </a:rPr>
                        <a:t> for distance keeps totals exact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TESTING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"/>
              </a:rPr>
              <a:t>Verified behaviour, not just working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611880" cy="2377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73152" cy="2377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865376"/>
            <a:ext cx="3246120" cy="1260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Backend — </a:t>
            </a:r>
            <a:r>
              <a:rPr lang="en-IN" sz="1600" b="1" dirty="0">
                <a:solidFill>
                  <a:srgbClr val="0F172A"/>
                </a:solidFill>
                <a:latin typeface="Segoe UI"/>
              </a:rPr>
              <a:t>176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 tests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JUnit 5 + Mockito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@WebMvcTest for controllers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Service logic + scoring edge cases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 err="1">
                <a:solidFill>
                  <a:srgbClr val="475569"/>
                </a:solidFill>
                <a:latin typeface="Segoe UI"/>
              </a:rPr>
              <a:t>ArgumentCaptor</a:t>
            </a:r>
            <a:r>
              <a:rPr sz="1250" dirty="0">
                <a:solidFill>
                  <a:srgbClr val="475569"/>
                </a:solidFill>
                <a:latin typeface="Segoe UI"/>
              </a:rPr>
              <a:t>, </a:t>
            </a:r>
            <a:r>
              <a:rPr sz="1250" dirty="0" err="1">
                <a:solidFill>
                  <a:srgbClr val="475569"/>
                </a:solidFill>
                <a:latin typeface="Segoe UI"/>
              </a:rPr>
              <a:t>verifyNoInteractions</a:t>
            </a:r>
            <a:endParaRPr sz="1250" dirty="0">
              <a:solidFill>
                <a:srgbClr val="475569"/>
              </a:solidFill>
              <a:latin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9119" y="1737360"/>
            <a:ext cx="3611880" cy="2377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19" y="1737360"/>
            <a:ext cx="73152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7" y="1865376"/>
            <a:ext cx="3246120" cy="1260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Frontend — 1</a:t>
            </a:r>
            <a:r>
              <a:rPr lang="en-IN" sz="1600" b="1" dirty="0">
                <a:solidFill>
                  <a:srgbClr val="0F172A"/>
                </a:solidFill>
                <a:latin typeface="Segoe UI"/>
              </a:rPr>
              <a:t>65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 tests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 err="1">
                <a:solidFill>
                  <a:srgbClr val="475569"/>
                </a:solidFill>
                <a:latin typeface="Segoe UI"/>
              </a:rPr>
              <a:t>Vitest</a:t>
            </a:r>
            <a:r>
              <a:rPr sz="1250" dirty="0">
                <a:solidFill>
                  <a:srgbClr val="475569"/>
                </a:solidFill>
                <a:latin typeface="Segoe UI"/>
              </a:rPr>
              <a:t> + Testing Library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Component + form </a:t>
            </a:r>
            <a:r>
              <a:rPr sz="1250" dirty="0" err="1">
                <a:solidFill>
                  <a:srgbClr val="475569"/>
                </a:solidFill>
                <a:latin typeface="Segoe UI"/>
              </a:rPr>
              <a:t>behaviour</a:t>
            </a:r>
            <a:endParaRPr sz="1250" dirty="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API client header handling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user-event interaction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8" y="1737360"/>
            <a:ext cx="3611880" cy="2377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58" y="1737360"/>
            <a:ext cx="73152" cy="2377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6" y="1865376"/>
            <a:ext cx="3246120" cy="1260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Idempotency coverage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n-IN" sz="1250" dirty="0">
                <a:solidFill>
                  <a:srgbClr val="475569"/>
                </a:solidFill>
                <a:latin typeface="Segoe UI"/>
              </a:rPr>
              <a:t>Check</a:t>
            </a:r>
            <a:r>
              <a:rPr sz="1250" dirty="0">
                <a:solidFill>
                  <a:srgbClr val="475569"/>
                </a:solidFill>
                <a:latin typeface="Segoe UI"/>
              </a:rPr>
              <a:t> response on duplicate key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Scoring engine NOT re-invoked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Null key → normal insert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50" dirty="0">
                <a:solidFill>
                  <a:srgbClr val="475569"/>
                </a:solidFill>
                <a:latin typeface="Segoe UI"/>
              </a:rPr>
              <a:t>Header parsing at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967082"/>
            <a:ext cx="10972800" cy="1184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endParaRPr lang="en-IN" sz="1400" b="1" i="0" dirty="0">
              <a:solidFill>
                <a:srgbClr val="0F172A"/>
              </a:solidFill>
              <a:latin typeface="Segoe U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 dirty="0">
                <a:solidFill>
                  <a:srgbClr val="0F172A"/>
                </a:solidFill>
                <a:latin typeface="Segoe UI"/>
              </a:rPr>
              <a:t>Quality practices: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 dirty="0">
                <a:solidFill>
                  <a:srgbClr val="475569"/>
                </a:solidFill>
                <a:latin typeface="Segoe UI"/>
              </a:rPr>
              <a:t>• Thin controllers + fat services → business logic is unit-testable in isolation.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 dirty="0">
                <a:solidFill>
                  <a:srgbClr val="475569"/>
                </a:solidFill>
                <a:latin typeface="Segoe UI"/>
              </a:rPr>
              <a:t>• Consistent error envelope → predictable, assertable API contract.</a:t>
            </a:r>
          </a:p>
          <a:p>
            <a:pPr algn="l">
              <a:lnSpc>
                <a:spcPct val="100000"/>
              </a:lnSpc>
            </a:pPr>
            <a:r>
              <a:rPr sz="1300" b="0" i="0" dirty="0">
                <a:solidFill>
                  <a:srgbClr val="475569"/>
                </a:solidFill>
                <a:latin typeface="Segoe UI"/>
              </a:rPr>
              <a:t>• Deterministic scoring (floor + </a:t>
            </a:r>
            <a:r>
              <a:rPr sz="1300" b="0" i="0" dirty="0" err="1">
                <a:solidFill>
                  <a:srgbClr val="475569"/>
                </a:solidFill>
                <a:latin typeface="Segoe UI"/>
              </a:rPr>
              <a:t>BigDecimal</a:t>
            </a:r>
            <a:r>
              <a:rPr sz="1300" b="0" i="0" dirty="0">
                <a:solidFill>
                  <a:srgbClr val="475569"/>
                </a:solidFill>
                <a:latin typeface="Segoe UI"/>
              </a:rPr>
              <a:t>) → tests are exact, no tolerance ranges needed.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BE58D0-2026-7898-159B-412C3F42E2D1}"/>
              </a:ext>
            </a:extLst>
          </p:cNvPr>
          <p:cNvSpPr txBox="1"/>
          <p:nvPr/>
        </p:nvSpPr>
        <p:spPr>
          <a:xfrm>
            <a:off x="676656" y="4409298"/>
            <a:ext cx="8723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Code Coverage </a:t>
            </a:r>
            <a:r>
              <a:rPr lang="en-US" sz="1400" dirty="0"/>
              <a:t>: Backend ~94%, Frontend ~84%, whole project ~89% line coverage</a:t>
            </a:r>
            <a:r>
              <a:rPr lang="en-US" dirty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10B981"/>
                </a:solidFill>
                <a:latin typeface="Segoe UI"/>
              </a:rPr>
              <a:t>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>
                <a:solidFill>
                  <a:srgbClr val="0F172A"/>
                </a:solidFill>
                <a:latin typeface="Segoe UI"/>
              </a:rPr>
              <a:t>What I'd add next — 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005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Fitness Challenge  ·  Full-Stack Engineering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394960" cy="186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 dirty="0">
                <a:solidFill>
                  <a:srgbClr val="1E293B"/>
                </a:solidFill>
                <a:latin typeface="Segoe UI"/>
              </a:rPr>
              <a:t>Auth (JWT)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0" i="0" dirty="0">
                <a:solidFill>
                  <a:srgbClr val="475569"/>
                </a:solidFill>
                <a:latin typeface="Segoe UI"/>
              </a:rPr>
              <a:t>Today any caller can act as any user; </a:t>
            </a:r>
            <a:r>
              <a:rPr sz="1200" b="0" i="0" dirty="0" err="1">
                <a:solidFill>
                  <a:srgbClr val="475569"/>
                </a:solidFill>
                <a:latin typeface="Segoe UI"/>
              </a:rPr>
              <a:t>userId</a:t>
            </a:r>
            <a:r>
              <a:rPr sz="1200" b="0" i="0" dirty="0">
                <a:solidFill>
                  <a:srgbClr val="475569"/>
                </a:solidFill>
                <a:latin typeface="Segoe UI"/>
              </a:rPr>
              <a:t> should come from the token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 dirty="0">
                <a:solidFill>
                  <a:srgbClr val="1E293B"/>
                </a:solidFill>
                <a:latin typeface="Segoe UI"/>
              </a:rPr>
              <a:t>CI/CD pipeline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0" i="0" dirty="0">
                <a:solidFill>
                  <a:srgbClr val="475569"/>
                </a:solidFill>
                <a:latin typeface="Segoe UI"/>
              </a:rPr>
              <a:t>GitHub Actions: tests + coverage gate + static analysis on every PR</a:t>
            </a:r>
            <a:endParaRPr lang="en-IN" sz="1200" b="0" i="0" dirty="0">
              <a:solidFill>
                <a:srgbClr val="475569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1E293B"/>
                </a:solidFill>
                <a:latin typeface="Segoe UI"/>
              </a:rPr>
              <a:t>Observability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475569"/>
                </a:solidFill>
                <a:latin typeface="Segoe UI"/>
              </a:rPr>
              <a:t>Sentry error tracking, Prometheus/Grafana dashboards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endParaRPr sz="1200" b="0" i="0" dirty="0">
              <a:solidFill>
                <a:srgbClr val="475569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80760" y="1737360"/>
            <a:ext cx="5212080" cy="1539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 dirty="0">
                <a:solidFill>
                  <a:srgbClr val="1E293B"/>
                </a:solidFill>
                <a:latin typeface="Segoe UI"/>
              </a:rPr>
              <a:t>Redis caching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0" i="0" dirty="0">
                <a:solidFill>
                  <a:srgbClr val="475569"/>
                </a:solidFill>
                <a:latin typeface="Segoe UI"/>
              </a:rPr>
              <a:t>Leaderboard + idempotency keys with TTL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 dirty="0">
                <a:solidFill>
                  <a:srgbClr val="1E293B"/>
                </a:solidFill>
                <a:latin typeface="Segoe UI"/>
              </a:rPr>
              <a:t>Rate limiting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0" i="0" dirty="0">
                <a:solidFill>
                  <a:srgbClr val="475569"/>
                </a:solidFill>
                <a:latin typeface="Segoe UI"/>
              </a:rPr>
              <a:t>Bucket4j → 429 on abuse / runaway retries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endParaRPr sz="1200" b="0" i="0" dirty="0">
              <a:solidFill>
                <a:srgbClr val="475569"/>
              </a:solidFill>
              <a:latin typeface="Segoe UI"/>
            </a:endParaRP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endParaRPr sz="1200" b="0" i="0" dirty="0">
              <a:solidFill>
                <a:srgbClr val="475569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B981"/>
                </a:solidFill>
                <a:latin typeface="Segoe UI"/>
              </a:rPr>
              <a:t>LIVE DEMO  &amp; 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Let me show it running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2E8F0"/>
                </a:solidFill>
                <a:latin typeface="Segoe UI"/>
              </a:rPr>
              <a:t>1.  Leaderboard (seeded) — global ranking with pagination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91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2E8F0"/>
                </a:solidFill>
                <a:latin typeface="Segoe UI"/>
              </a:rPr>
              <a:t>2.  Register a new user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954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2E8F0"/>
                </a:solidFill>
                <a:latin typeface="Segoe UI"/>
              </a:rPr>
              <a:t>3.  Log a running activity → watch points get awarded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39896"/>
            <a:ext cx="10058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rgbClr val="E2E8F0"/>
                </a:solidFill>
                <a:latin typeface="Segoe UI"/>
              </a:rPr>
              <a:t>4.</a:t>
            </a:r>
            <a:r>
              <a:rPr sz="1600" b="0" i="0" dirty="0">
                <a:solidFill>
                  <a:srgbClr val="E2E8F0"/>
                </a:solidFill>
                <a:latin typeface="Segoe UI"/>
              </a:rPr>
              <a:t>  Open the personal dashboard → pie + line charts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87952"/>
            <a:ext cx="10058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rgbClr val="E2E8F0"/>
                </a:solidFill>
                <a:latin typeface="Segoe UI"/>
              </a:rPr>
              <a:t>5</a:t>
            </a:r>
            <a:r>
              <a:rPr sz="1600" b="0" i="0" dirty="0">
                <a:solidFill>
                  <a:srgbClr val="E2E8F0"/>
                </a:solidFill>
                <a:latin typeface="Segoe UI"/>
              </a:rPr>
              <a:t>.  Delete an activity → stats refresh instantly, no reload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623560"/>
            <a:ext cx="1051560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760720"/>
            <a:ext cx="10515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 dirty="0">
                <a:solidFill>
                  <a:srgbClr val="94A3B8"/>
                </a:solidFill>
                <a:latin typeface="Segoe U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2345</Words>
  <Application>Microsoft Office PowerPoint</Application>
  <PresentationFormat>Widescreen</PresentationFormat>
  <Paragraphs>440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nikit</dc:creator>
  <cp:keywords/>
  <dc:description>generated using python-pptx</dc:description>
  <cp:lastModifiedBy>nikitheshc@gmail.com</cp:lastModifiedBy>
  <cp:revision>38</cp:revision>
  <dcterms:created xsi:type="dcterms:W3CDTF">2013-01-27T09:14:16Z</dcterms:created>
  <dcterms:modified xsi:type="dcterms:W3CDTF">2026-08-21T05:33:27Z</dcterms:modified>
  <cp:category/>
</cp:coreProperties>
</file>